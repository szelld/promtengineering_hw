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Bevezetés: Az Energiaátállás Kényszere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globális energiaválság és a fosszilis energiahordozók használata mélyülő ökológiai és klímaválsághoz vezetett.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megújuló energiaforrásokra való átállás a földi ökoszisztémák és az emberi civilizáció fennmaradásának alapfeltétele.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Szükség van az energiahálózatok paradigmaváltására, energiatárolási technológiák forradalmasítására és fogyasztási szokások megváltoztatására.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átállás sikerét a technológiai innováció, a gazdasági ösztönzők és a politikai akarat határozza meg.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Napenergia Forradalma: Innovatív Megoldások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szilícium alapú fotovoltaikus (PV) panelek hatékonysága nőtt, költsége csökkent, mára a legolcsóbb áramtermelési módok közé tartozik.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Perovszkit napelemek ígéretesek: olcsón gyárthatók, magas hatásfokot érhetnek el (akár 30% fölött tandem cellákkal).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Úszó napelemparkok (floatovoltaics) és épületbe integrált rendszerek (BIPV) optimalizálják a területhasználatot és teszik az épületeket energiatermelővé.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Szélenergia Új Dimenziói: Tengeri Erőművek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tengeri (offshore) szélparkok hatalmas növekedési potenciállal bírnak, mivel a szél erősebb, folyamatosabb és kiszámíthatóbb az óceánokon.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óriási, 14-16 MW kapacitású turbinák drasztikusan csökkentik az egy megawattórára eső költségeket.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Lebegő (floating) szélturbinák teszik lehetővé a mélyvízi, nyílt óceáni energiatermelést, kinyitva a kaput a korlátlan energiához.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Szélenergia Fenntarthatósága és Kihívásai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szélturbinák rotorlapátjainak újrahasznosítása komoly környezeti kihívást jelent a kompozit anyagok miatt.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gyártók 100%-ban újrahasznosítható rotorlapátok fejlesztésén dolgoznak, innovatív kémiai eljárásokkal.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Kiemelt figyelmet kap a turbinák madár- és denevérpopulációkra gyakorolt hatásának csökkentése okos kamerarendszerekkel és radarokkal.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Energiatárolás: A Rendszer Stabilitása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nap- és szélenergia időszakossága miatt az energiatárolás forradalma a jövő energiarendszerének legfontosabb pillére.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lítium-ion akkumulátorok dominálnak, de a nátrium-ion és folyadékáramos (redox flow) akkumulátorok ígéretes alternatívák.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szilárdtest akkumulátorok (solid-state batteries) a biztonság, energiasűrűség és töltési idő terén hozhatnak áttörést a 2020-as évek végére.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Hosszú Távú Energiatárolás és Zöld Hidrogén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szezonális energiatárolásra a szivattyús víztározók és az új gravitációs rendszerek kínálnak megoldást.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zöld hidrogén, megújuló forrásból elektrolízissel előállítva, kulcsfontosságú a szezonális tárolásban.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zöld hidrogén a nehezen dekarbonizálható iparágak (pl. acélgyártás, repülés) kizöldítésének kulcsa is lehet.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technológia gazdasági fordulópontja a 2030-as évekre várható.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Okoshálózatok és Mesterséges Intelligencia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jövő Smart Grid hálózata decentralizált, kétirányú energia- és információáramlást igényel, digitális infrastruktúrával.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MI algoritmusok előrejelzik az időjárást és a termelést, optimalizálják a fogyasztási mintázatokat és a keresletet-kínálatot.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keresletoldali szabályozás (Demand Response) és a virtuális erőművek (VPP) csökkentik a csúcserőművek szükségességét.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mikrohálózatok helyi, független energiarendszerek, amelyek kritikus infrastruktúrákat láthatnak el áramszünet esetén.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Geotermikus és Vízenergia: Folyamatos Források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mélygeotermikus rendszerek (EGS) tiszta, folyamatos, alaperőművi kapacitást biztosíthatnak a bolygó bármely pontján.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vízenergia modernizációja a meglévő létesítmények hatásfokának növelésére és ökológiailag fenntartható kiserőművekre fókuszál.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Az árapály- és hullámerőművek az óceánok kinetikus energiáját hasznosítják, lokálisan fontos energiaforrássá válhatnak a jövőben.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Gazdasági és Társadalmi Átalakulás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megújuló energiára való átállás a zöld szektorban munkahelyek millióit teremti, szükség van az „igazságos átmenet” biztosítására.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megújuló energia demokratizálja az energiatermelést, növeli az energiabiztonságot és csökkenti a geopolitikai függőséget.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kritikus nyersanyagok feletti kontroll új geopolitikai verseny színtere, a körforgásos gazdaság elengedhetetlen.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decentralizált megújuló megoldások felszámolhatják az energiaszegénységet a fejlődő világban.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FFCC"/>
                </a:solidFill>
                <a:latin typeface="Segoe UI"/>
              </a:defRPr>
            </a:pPr>
            <a:r>
              <a:t>Út a Nettó Zéró Kibocsátásig 2050-re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400" y="1079500"/>
            <a:ext cx="8331200" cy="38100"/>
          </a:xfrm>
          <a:prstGeom prst="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technológiák (nap, szél, akkumulátorok) már megvannak és gazdaságilag bizonyítottak, a feladat a páratlanul gyors skálázódás.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Szükséges az elektromos hálózatok teljes modernizációja és a zöld hidrogén bevezetése a nehezen dekarbonizálható szektorokban.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Párizsi egyezmény és az EU Green Deal jogilag kötelező célokat és beruházásokat irányoz elő a klímasemlegesség elérésére.</a:t>
            </a:r>
          </a:p>
          <a:p>
            <a:pPr lvl="1">
              <a:spcBef>
                <a:spcPts val="800"/>
              </a:spcBef>
              <a:defRPr sz="1800">
                <a:solidFill>
                  <a:srgbClr val="E6E6F0"/>
                </a:solidFill>
                <a:latin typeface="Segoe UI"/>
              </a:defRPr>
            </a:pPr>
            <a:r>
              <a:t>A karbonárazás és a szén-dioxid-kvóták ösztönzik a tiszta technológiákat, biztosítva egy élhető, tiszta és fenntartható jövőt.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